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1"/>
    <p:sldMasterId id="2147483791" r:id="rId2"/>
  </p:sldMasterIdLst>
  <p:notesMasterIdLst>
    <p:notesMasterId r:id="rId18"/>
  </p:notesMasterIdLst>
  <p:sldIdLst>
    <p:sldId id="256" r:id="rId3"/>
    <p:sldId id="257" r:id="rId4"/>
    <p:sldId id="269" r:id="rId5"/>
    <p:sldId id="258" r:id="rId6"/>
    <p:sldId id="270" r:id="rId7"/>
    <p:sldId id="268" r:id="rId8"/>
    <p:sldId id="260" r:id="rId9"/>
    <p:sldId id="267" r:id="rId10"/>
    <p:sldId id="261" r:id="rId11"/>
    <p:sldId id="271" r:id="rId12"/>
    <p:sldId id="262" r:id="rId13"/>
    <p:sldId id="263" r:id="rId14"/>
    <p:sldId id="273" r:id="rId15"/>
    <p:sldId id="274" r:id="rId16"/>
    <p:sldId id="265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82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AFFF-A78F-C152-9D2A-459EC90E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5AB78-CAA0-1F56-0255-FC8FEAD78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EE42A-A46A-7E45-434C-8D61DFCEC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1F042-75C3-D8FC-143A-907BD4936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10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84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6531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8668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6715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9361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3925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9202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635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398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9617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8626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279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113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7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88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00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W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2646406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98" y="478881"/>
            <a:ext cx="8179004" cy="363257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53" y="649250"/>
            <a:ext cx="7838694" cy="329184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2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7F9AD2E-70BB-475A-A0F2-AD9F308C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097" y="772694"/>
            <a:ext cx="7591806" cy="304495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43391" y="2761312"/>
            <a:ext cx="6840715" cy="558280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algn="ctr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cap="all" dirty="0">
                <a:solidFill>
                  <a:schemeClr val="bg2"/>
                </a:solidFill>
              </a:rPr>
              <a:t>Deep Learning-Based MRI Image Analysis</a:t>
            </a:r>
          </a:p>
        </p:txBody>
      </p:sp>
      <p:sp>
        <p:nvSpPr>
          <p:cNvPr id="2" name="Text 0"/>
          <p:cNvSpPr/>
          <p:nvPr/>
        </p:nvSpPr>
        <p:spPr>
          <a:xfrm>
            <a:off x="1159665" y="824144"/>
            <a:ext cx="6824441" cy="1947548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Multiclass Brain Tumor Classification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2"/>
          <p:cNvSpPr/>
          <p:nvPr/>
        </p:nvSpPr>
        <p:spPr>
          <a:xfrm>
            <a:off x="2215642" y="2487653"/>
            <a:ext cx="4675472" cy="2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92D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Convolutional Neural Networks with Transfer Learning</a:t>
            </a:r>
            <a:endParaRPr lang="en-US" sz="1350" dirty="0">
              <a:solidFill>
                <a:srgbClr val="92D05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335300" y="3170559"/>
            <a:ext cx="2473180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Mvuma </a:t>
            </a:r>
          </a:p>
          <a:p>
            <a:pPr marL="0" indent="0" algn="ctr">
              <a:lnSpc>
                <a:spcPts val="19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Analytics Final Project</a:t>
            </a:r>
            <a:endParaRPr lang="en-US" sz="10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 &amp; Dataset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5"/>
            <a:ext cx="7924823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Accurate classification of brain tumor types from MRI images for improved clinical decision-making.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246" y="1881849"/>
            <a:ext cx="762011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3,064 MRI images from Figshare Brain Tumor Database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Glioma (1,426), Pituitary (930), Meningioma (708)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.mat/.h5 files → converted to standardized PNG format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2,144 training, 460 validation, 460 test (stratified)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W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6E6531A-0776-43BA-A852-5FB5C7753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7063" y="400050"/>
            <a:ext cx="6809874" cy="3807994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C5273F-2B84-46BF-A94F-1A20E13B3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53" y="572402"/>
            <a:ext cx="6467094" cy="346329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D7EFA8-4B12-7CB1-861D-A2606FDB2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15" y="935876"/>
            <a:ext cx="4560569" cy="273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5"/>
            <a:ext cx="8083319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Preprocessing Steps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246" y="1630385"/>
            <a:ext cx="762011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Conversion: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Extracted 3,064 .mat files to grayscale PNG images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Min-max scaling (0-255 → 0-1 range) for consistent intensity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Uniform spatial resolution across all images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20° rotations, 0.15 zoom, width/height shifts, horizontal flips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34" y="3453034"/>
            <a:ext cx="8083319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Result: Done to ensure a Consistent, balanced dataset ready for deep learning</a:t>
            </a:r>
            <a:endParaRPr lang="en-US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W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E6531A-0776-43BA-A852-5FB5C7753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7063" y="400050"/>
            <a:ext cx="6809874" cy="3807994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C5273F-2B84-46BF-A94F-1A20E13B3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53" y="572402"/>
            <a:ext cx="6467094" cy="346329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lose-up of a mri&#10;&#10;AI-generated content may be incorrect.">
            <a:extLst>
              <a:ext uri="{FF2B5EF4-FFF2-40B4-BE49-F238E27FC236}">
                <a16:creationId xmlns:a16="http://schemas.microsoft.com/office/drawing/2014/main" id="{7697F65B-6BCF-0B7B-5650-B044F634A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27" y="1156018"/>
            <a:ext cx="5740146" cy="229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51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607564"/>
            <a:ext cx="7924823" cy="6702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34" y="2430198"/>
            <a:ext cx="7924823" cy="6702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34" y="3252832"/>
            <a:ext cx="7924823" cy="6702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534" y="4075465"/>
            <a:ext cx="7924823" cy="6702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534" y="609534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 Strategy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534" y="1249495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Progressive Phases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8068" y="1836098"/>
            <a:ext cx="7617110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1: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Baseline CNN → Simple convolutional architecture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8068" y="2658732"/>
            <a:ext cx="7617110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2: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Transfer Learning with ImageNet-Pretrained ResNet-50 and Data Augmentation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8068" y="3481365"/>
            <a:ext cx="7617110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3 (Model 3):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ResNet-50 + Callback-Guided Fine-Tuning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8068" y="4304000"/>
            <a:ext cx="7617110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Phase 4 (Model 4):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ResNet-50 + CBAM Attention + Grad-CAM Interpretability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759920"/>
            <a:ext cx="3848144" cy="122810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212" y="1759920"/>
            <a:ext cx="3848144" cy="122810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5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CNN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534" y="1173317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Convolutional Architecture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157" y="1988455"/>
            <a:ext cx="3458898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04157" y="2256565"/>
            <a:ext cx="3458898" cy="42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80835" y="1988455"/>
            <a:ext cx="3458898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Macro-Avg F1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880835" y="2256565"/>
            <a:ext cx="3458898" cy="42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9534" y="3140385"/>
            <a:ext cx="8083319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Performance</a:t>
            </a:r>
            <a:endParaRPr lang="en-US" sz="1600" b="1" dirty="0"/>
          </a:p>
        </p:txBody>
      </p:sp>
      <p:sp>
        <p:nvSpPr>
          <p:cNvPr id="11" name="Text 9"/>
          <p:cNvSpPr/>
          <p:nvPr/>
        </p:nvSpPr>
        <p:spPr>
          <a:xfrm>
            <a:off x="609534" y="3332318"/>
            <a:ext cx="8083319" cy="26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Glioma F1: 0.85 | Pituitary F1: 0.90 | Meningioma F1: 0.40 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534" y="3600429"/>
            <a:ext cx="8083319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60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Shallow architecture, and was unable to extract meningioma features effectively</a:t>
            </a:r>
            <a:endParaRPr lang="en-US" sz="1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DD4B0-BB63-4E43-8344-90137DC9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552359-A669-57B0-9E5B-1343EE32A3CC}"/>
              </a:ext>
            </a:extLst>
          </p:cNvPr>
          <p:cNvSpPr/>
          <p:nvPr/>
        </p:nvSpPr>
        <p:spPr>
          <a:xfrm>
            <a:off x="609534" y="1759920"/>
            <a:ext cx="3848144" cy="122810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767509-52FB-80D3-4D31-8D27902B0FBA}"/>
              </a:ext>
            </a:extLst>
          </p:cNvPr>
          <p:cNvSpPr/>
          <p:nvPr/>
        </p:nvSpPr>
        <p:spPr>
          <a:xfrm>
            <a:off x="4686212" y="1759920"/>
            <a:ext cx="3848144" cy="122810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3C01DF-70AC-83B8-BDD8-1DB9AF020D4E}"/>
              </a:ext>
            </a:extLst>
          </p:cNvPr>
          <p:cNvSpPr/>
          <p:nvPr/>
        </p:nvSpPr>
        <p:spPr>
          <a:xfrm>
            <a:off x="609534" y="191558"/>
            <a:ext cx="8592832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Transfer Learning with ImageNet-Pretrained ResNet-50 and Data Augmentation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A1E3BB-4308-A057-1A02-5B28FFE44F6B}"/>
              </a:ext>
            </a:extLst>
          </p:cNvPr>
          <p:cNvSpPr/>
          <p:nvPr/>
        </p:nvSpPr>
        <p:spPr>
          <a:xfrm>
            <a:off x="609534" y="1099427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ResNet-50 Transfer Learning – frozen backbone, then selective layer unfreezing for better tumor-specific features.</a:t>
            </a:r>
            <a:endParaRPr lang="en-US" sz="13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FB06D3-DFEE-B4A4-412B-5445F18AEC34}"/>
              </a:ext>
            </a:extLst>
          </p:cNvPr>
          <p:cNvSpPr/>
          <p:nvPr/>
        </p:nvSpPr>
        <p:spPr>
          <a:xfrm>
            <a:off x="804157" y="1988455"/>
            <a:ext cx="3458898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10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D442565-93A6-70B7-8A7D-4930524B5BB7}"/>
              </a:ext>
            </a:extLst>
          </p:cNvPr>
          <p:cNvSpPr/>
          <p:nvPr/>
        </p:nvSpPr>
        <p:spPr>
          <a:xfrm>
            <a:off x="804157" y="2256565"/>
            <a:ext cx="3458898" cy="42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817915-37A2-2040-C745-975129B99521}"/>
              </a:ext>
            </a:extLst>
          </p:cNvPr>
          <p:cNvSpPr/>
          <p:nvPr/>
        </p:nvSpPr>
        <p:spPr>
          <a:xfrm>
            <a:off x="4880835" y="1988455"/>
            <a:ext cx="3458898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Macro-Avg F1</a:t>
            </a:r>
            <a:endParaRPr lang="en-US" sz="108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F0C68B5-8069-BD28-835E-EBE6AA7EFB29}"/>
              </a:ext>
            </a:extLst>
          </p:cNvPr>
          <p:cNvSpPr/>
          <p:nvPr/>
        </p:nvSpPr>
        <p:spPr>
          <a:xfrm>
            <a:off x="4880835" y="2256565"/>
            <a:ext cx="3458898" cy="42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E511CE-BE8E-E6FB-C288-AF6F51C60084}"/>
              </a:ext>
            </a:extLst>
          </p:cNvPr>
          <p:cNvSpPr/>
          <p:nvPr/>
        </p:nvSpPr>
        <p:spPr>
          <a:xfrm>
            <a:off x="609534" y="3140385"/>
            <a:ext cx="8083319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Performance</a:t>
            </a:r>
            <a:endParaRPr lang="en-US" sz="1600" b="1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596F54B-E04B-1790-CF6A-0EFCF92FC516}"/>
              </a:ext>
            </a:extLst>
          </p:cNvPr>
          <p:cNvSpPr/>
          <p:nvPr/>
        </p:nvSpPr>
        <p:spPr>
          <a:xfrm>
            <a:off x="609534" y="3332318"/>
            <a:ext cx="8083319" cy="268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Glioma F1: 0.80 | Pituitary F1: 0.89 | Meningioma F1: 0.55 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7AEDAC5-5A1B-127E-A703-50CAD69076CC}"/>
              </a:ext>
            </a:extLst>
          </p:cNvPr>
          <p:cNvSpPr/>
          <p:nvPr/>
        </p:nvSpPr>
        <p:spPr>
          <a:xfrm>
            <a:off x="609534" y="3600429"/>
            <a:ext cx="8083319" cy="57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16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Limitation: Transfer learning improved overall accuracy but still left frequent misclassification of meningioma, so the sensitivity for this class remained limited.</a:t>
            </a:r>
            <a:endParaRPr lang="en-US" sz="16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29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759920"/>
            <a:ext cx="3848144" cy="122810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212" y="1759920"/>
            <a:ext cx="3848144" cy="122810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5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3: Callback-Guided ResNet-50 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534" y="1173319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Transfer Learning with Adaptive Optimization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157" y="1988455"/>
            <a:ext cx="3458898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04157" y="2256567"/>
            <a:ext cx="3458898" cy="42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80835" y="1988455"/>
            <a:ext cx="3458898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Macro-Avg F1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880835" y="2256567"/>
            <a:ext cx="3458898" cy="42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9534" y="3140385"/>
            <a:ext cx="8083319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Class Performance</a:t>
            </a:r>
            <a:endParaRPr lang="en-US" sz="1400" b="1" dirty="0"/>
          </a:p>
        </p:txBody>
      </p:sp>
      <p:sp>
        <p:nvSpPr>
          <p:cNvPr id="11" name="Text 9"/>
          <p:cNvSpPr/>
          <p:nvPr/>
        </p:nvSpPr>
        <p:spPr>
          <a:xfrm>
            <a:off x="609534" y="3332318"/>
            <a:ext cx="8083319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Glioma F1: 0.83 | Pituitary F1: 0.92 | Meningioma F1: 0.73 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609534" y="3600429"/>
            <a:ext cx="8083319" cy="191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 Performance: Macro-AUC 0.933, Micro-AUC 0.923</a:t>
            </a:r>
            <a:endParaRPr lang="en-US" sz="1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W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82C17D0-0115-4E43-AF4A-3BA36E809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982B51-6FEC-4000-8197-30B2EE78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820" y="587826"/>
            <a:ext cx="7936360" cy="3967848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DFB8AC-1A2A-4330-B50D-AAE63C682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955" y="764667"/>
            <a:ext cx="7578090" cy="3614166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performance evaluation&#10;&#10;AI-generated content may be incorrect.">
            <a:extLst>
              <a:ext uri="{FF2B5EF4-FFF2-40B4-BE49-F238E27FC236}">
                <a16:creationId xmlns:a16="http://schemas.microsoft.com/office/drawing/2014/main" id="{87340655-98D1-DFF7-63BC-628D5E714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958" y="1004697"/>
            <a:ext cx="4018084" cy="313410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282142-B0A6-74E3-34E9-08211D67A3E0}"/>
              </a:ext>
            </a:extLst>
          </p:cNvPr>
          <p:cNvSpPr/>
          <p:nvPr/>
        </p:nvSpPr>
        <p:spPr>
          <a:xfrm>
            <a:off x="5797686" y="4586469"/>
            <a:ext cx="2885872" cy="234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extracted from the main report</a:t>
            </a:r>
            <a:endParaRPr lang="en-MW" sz="11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344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547" y="343577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3: Key optimizations to the Model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3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Callback-Driven Training Control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21532" y="1607565"/>
            <a:ext cx="8521430" cy="2080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ModelCheckpoint: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Automatically saves best-performing weights</a:t>
            </a:r>
            <a:endParaRPr lang="en-US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ReduceLROnPlateau: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Reduces learning rate when validation plateaus (1×10⁻⁵ → 9×10⁻⁷)</a:t>
            </a:r>
            <a:endParaRPr lang="en-US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EarlyStopping: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Halts training at epoch 14, restores best weights from epoch 11</a:t>
            </a:r>
            <a:endParaRPr lang="en-US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Stable convergence without overfitting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40" y="4039806"/>
            <a:ext cx="8083319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Loss: 1.06 → 0.415 | Validation Accuracy: 0.29 → 0.84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4: ResNet-50 + CBAM + Grad-CAM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6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Mechanism &amp; Explainability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246" y="1607565"/>
            <a:ext cx="762011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Convolutional Block Attention Module for channel &amp; spatial focus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heatmaps highlighting diagnostically relevant regions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79% accuracy, macro-F1 0.75 (interpretability trade-off)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Value: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Explainable predictions for clinician trust &amp; audit trails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33" y="3575040"/>
            <a:ext cx="8761446" cy="476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Trade-off - Model 3 is superior for accuracy, while Model 4 is superior for interpretability. My final choice was Model 3.</a:t>
            </a:r>
            <a:endParaRPr lang="en-US" sz="1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W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E6531A-0776-43BA-A852-5FB5C7753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7063" y="400050"/>
            <a:ext cx="6809874" cy="3807994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C5273F-2B84-46BF-A94F-1A20E13B3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53" y="572402"/>
            <a:ext cx="6467094" cy="346329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6A3E24-C0C3-A9E3-185D-A80246E6E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084870"/>
              </p:ext>
            </p:extLst>
          </p:nvPr>
        </p:nvGraphicFramePr>
        <p:xfrm>
          <a:off x="1511031" y="1208466"/>
          <a:ext cx="6206246" cy="2598291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021740">
                  <a:extLst>
                    <a:ext uri="{9D8B030D-6E8A-4147-A177-3AD203B41FA5}">
                      <a16:colId xmlns:a16="http://schemas.microsoft.com/office/drawing/2014/main" val="1350395586"/>
                    </a:ext>
                  </a:extLst>
                </a:gridCol>
                <a:gridCol w="1007824">
                  <a:extLst>
                    <a:ext uri="{9D8B030D-6E8A-4147-A177-3AD203B41FA5}">
                      <a16:colId xmlns:a16="http://schemas.microsoft.com/office/drawing/2014/main" val="237397126"/>
                    </a:ext>
                  </a:extLst>
                </a:gridCol>
                <a:gridCol w="1007824">
                  <a:extLst>
                    <a:ext uri="{9D8B030D-6E8A-4147-A177-3AD203B41FA5}">
                      <a16:colId xmlns:a16="http://schemas.microsoft.com/office/drawing/2014/main" val="3935173944"/>
                    </a:ext>
                  </a:extLst>
                </a:gridCol>
                <a:gridCol w="1007824">
                  <a:extLst>
                    <a:ext uri="{9D8B030D-6E8A-4147-A177-3AD203B41FA5}">
                      <a16:colId xmlns:a16="http://schemas.microsoft.com/office/drawing/2014/main" val="3308657253"/>
                    </a:ext>
                  </a:extLst>
                </a:gridCol>
                <a:gridCol w="1098002">
                  <a:extLst>
                    <a:ext uri="{9D8B030D-6E8A-4147-A177-3AD203B41FA5}">
                      <a16:colId xmlns:a16="http://schemas.microsoft.com/office/drawing/2014/main" val="3432859092"/>
                    </a:ext>
                  </a:extLst>
                </a:gridCol>
                <a:gridCol w="1063032">
                  <a:extLst>
                    <a:ext uri="{9D8B030D-6E8A-4147-A177-3AD203B41FA5}">
                      <a16:colId xmlns:a16="http://schemas.microsoft.com/office/drawing/2014/main" val="2078826622"/>
                    </a:ext>
                  </a:extLst>
                </a:gridCol>
              </a:tblGrid>
              <a:tr h="3160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cap="none" spc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</a:p>
                  </a:txBody>
                  <a:tcPr marL="75624" marR="28110" marT="58172" marB="58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cap="none" spc="0">
                          <a:solidFill>
                            <a:schemeClr val="bg1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75624" marR="28110" marT="58172" marB="581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cap="none" spc="0">
                          <a:solidFill>
                            <a:schemeClr val="bg1"/>
                          </a:solidFill>
                          <a:effectLst/>
                        </a:rPr>
                        <a:t>Macro‑F1</a:t>
                      </a:r>
                    </a:p>
                  </a:txBody>
                  <a:tcPr marL="75624" marR="28110" marT="58172" marB="581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cap="none" spc="0">
                          <a:solidFill>
                            <a:schemeClr val="bg1"/>
                          </a:solidFill>
                          <a:effectLst/>
                        </a:rPr>
                        <a:t>F1 Glioma</a:t>
                      </a:r>
                    </a:p>
                  </a:txBody>
                  <a:tcPr marL="75624" marR="28110" marT="58172" marB="581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cap="none" spc="0">
                          <a:solidFill>
                            <a:schemeClr val="bg1"/>
                          </a:solidFill>
                          <a:effectLst/>
                        </a:rPr>
                        <a:t>F1 Meningioma</a:t>
                      </a:r>
                    </a:p>
                  </a:txBody>
                  <a:tcPr marL="75624" marR="28110" marT="58172" marB="581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cap="none" spc="0">
                          <a:solidFill>
                            <a:schemeClr val="bg1"/>
                          </a:solidFill>
                          <a:effectLst/>
                        </a:rPr>
                        <a:t>F1 Pituitary</a:t>
                      </a:r>
                    </a:p>
                  </a:txBody>
                  <a:tcPr marL="75624" marR="28110" marT="58172" marB="581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879360"/>
                  </a:ext>
                </a:extLst>
              </a:tr>
              <a:tr h="4718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effectLst/>
                        </a:rPr>
                        <a:t>Model 1: Baseline CNN</a:t>
                      </a:r>
                    </a:p>
                  </a:txBody>
                  <a:tcPr marL="75624" marR="28110" marT="58172" marB="58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0.78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0.71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0.87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0.42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0.90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5958"/>
                  </a:ext>
                </a:extLst>
              </a:tr>
              <a:tr h="4718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effectLst/>
                        </a:rPr>
                        <a:t>Model 2: ResNet‑50 TL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0.79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0.75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0.80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0.55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0.89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499554"/>
                  </a:ext>
                </a:extLst>
              </a:tr>
              <a:tr h="710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>
                          <a:solidFill>
                            <a:srgbClr val="00B050"/>
                          </a:solidFill>
                          <a:effectLst/>
                        </a:rPr>
                        <a:t>Model 3: Callback ResNet‑50</a:t>
                      </a:r>
                    </a:p>
                  </a:txBody>
                  <a:tcPr marL="75624" marR="28110" marT="58172" marB="581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1100" b="1" cap="none" spc="0">
                          <a:solidFill>
                            <a:srgbClr val="00B050"/>
                          </a:solidFill>
                          <a:effectLst/>
                        </a:rPr>
                        <a:t>0.84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1100" b="1" cap="none" spc="0">
                          <a:solidFill>
                            <a:srgbClr val="00B050"/>
                          </a:solidFill>
                          <a:effectLst/>
                        </a:rPr>
                        <a:t>0.83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1100" b="1" cap="none" spc="0">
                          <a:solidFill>
                            <a:srgbClr val="00B050"/>
                          </a:solidFill>
                          <a:effectLst/>
                        </a:rPr>
                        <a:t>0.84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1100" b="1" cap="none" spc="0" dirty="0">
                          <a:solidFill>
                            <a:srgbClr val="00B050"/>
                          </a:solidFill>
                          <a:effectLst/>
                        </a:rPr>
                        <a:t>0.73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1100" b="1" cap="none" spc="0" dirty="0">
                          <a:solidFill>
                            <a:srgbClr val="00B050"/>
                          </a:solidFill>
                          <a:effectLst/>
                        </a:rPr>
                        <a:t>0.92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303651"/>
                  </a:ext>
                </a:extLst>
              </a:tr>
              <a:tr h="6276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  <a:effectLst/>
                        </a:rPr>
                        <a:t>Model 4: ResNet‑50 + CBAM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0.79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0.75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0.84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>
                          <a:solidFill>
                            <a:schemeClr val="tx1"/>
                          </a:solidFill>
                          <a:effectLst/>
                        </a:rPr>
                        <a:t>0.49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MW" sz="900" cap="none" spc="0" dirty="0">
                          <a:solidFill>
                            <a:schemeClr val="tx1"/>
                          </a:solidFill>
                          <a:effectLst/>
                        </a:rPr>
                        <a:t>0.88</a:t>
                      </a:r>
                    </a:p>
                  </a:txBody>
                  <a:tcPr marL="75624" marR="28110" marT="58172" marB="581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12287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9C0D0FA-1BAF-7B55-5414-2BEE7A982BBF}"/>
              </a:ext>
            </a:extLst>
          </p:cNvPr>
          <p:cNvSpPr/>
          <p:nvPr/>
        </p:nvSpPr>
        <p:spPr>
          <a:xfrm>
            <a:off x="2756170" y="706877"/>
            <a:ext cx="3527898" cy="2285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Metrics Comparison</a:t>
            </a:r>
            <a:endParaRPr lang="en-MW" dirty="0"/>
          </a:p>
        </p:txBody>
      </p:sp>
    </p:spTree>
    <p:extLst>
      <p:ext uri="{BB962C8B-B14F-4D97-AF65-F5344CB8AC3E}">
        <p14:creationId xmlns:p14="http://schemas.microsoft.com/office/powerpoint/2010/main" val="2046549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AF1925-6D43-C343-6E94-2D5DB986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39AD03-A07F-2C4F-47E7-4BE780F0A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14607"/>
            <a:ext cx="9144000" cy="307945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W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7E84B4-D18F-345F-D47C-DC5910B1A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1798EB-1B6E-104F-FF59-1ED76D4E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9630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577FE71-918D-7C9E-9826-49C05A5CA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6201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A5108F-3803-B118-60C6-9C88BDE80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228" y="482600"/>
            <a:ext cx="5475543" cy="36549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0878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Conclusions and Choice of Model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33" y="1238655"/>
            <a:ext cx="8151845" cy="2983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Model 3 Recommended for Deployment: 84% accuracy, 0.83 macro-F1, best meningioma classification (0.73 F1)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Impact: ResNet-50 + callbacks improved meningioma F1 from 0.40 → 0.73 (+83% improvement)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Stable Convergence: Callback-guided optimization eliminated overfitting and prediction variance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Clinical Readiness: Model 3 offers reliability &amp; consistency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172331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110</TotalTime>
  <Words>659</Words>
  <Application>Microsoft Office PowerPoint</Application>
  <PresentationFormat>On-screen Show (16:9)</PresentationFormat>
  <Paragraphs>112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Gill Sans MT</vt:lpstr>
      <vt:lpstr>Gallery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Peter Mvuma</dc:creator>
  <cp:lastModifiedBy>Peter Mvuma</cp:lastModifiedBy>
  <cp:revision>39</cp:revision>
  <dcterms:created xsi:type="dcterms:W3CDTF">2025-11-29T12:52:46Z</dcterms:created>
  <dcterms:modified xsi:type="dcterms:W3CDTF">2025-11-29T14:43:16Z</dcterms:modified>
</cp:coreProperties>
</file>